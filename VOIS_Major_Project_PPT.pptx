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7273" y="3672057"/>
            <a:ext cx="5066522" cy="129381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0" dirty="0">
                <a:solidFill>
                  <a:schemeClr val="tx1"/>
                </a:solidFill>
              </a:rPr>
              <a:t>Name – Priyanka Balakumar</a:t>
            </a:r>
            <a:endParaRPr lang="en-IN" sz="1800" b="0" dirty="0">
              <a:solidFill>
                <a:schemeClr val="tx1"/>
              </a:solidFill>
            </a:endParaRPr>
          </a:p>
          <a:p>
            <a:r>
              <a:rPr lang="en-US" sz="1800" b="0" dirty="0">
                <a:solidFill>
                  <a:schemeClr val="tx1"/>
                </a:solidFill>
              </a:rPr>
              <a:t>College Name - CMR Institute of Technology</a:t>
            </a:r>
          </a:p>
          <a:p>
            <a:r>
              <a:rPr lang="en-IN" sz="1800" b="0" dirty="0">
                <a:solidFill>
                  <a:schemeClr val="tx1"/>
                </a:solidFill>
              </a:rPr>
              <a:t>AICTE STU ID - STU6a5e35a17d6731784559009 </a:t>
            </a:r>
          </a:p>
          <a:p>
            <a:endParaRPr lang="en-IN" sz="1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85552"/>
            <a:ext cx="9911881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IN" sz="32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6490" y="1968862"/>
            <a:ext cx="762311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sz="4300" dirty="0"/>
              <a:t>PROJECT DESCRIPTION</a:t>
            </a:r>
            <a:endParaRPr lang="en-IN" sz="4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987901-A41C-E88A-0C54-57F875C2E72A}"/>
              </a:ext>
            </a:extLst>
          </p:cNvPr>
          <p:cNvSpPr txBox="1"/>
          <p:nvPr/>
        </p:nvSpPr>
        <p:spPr>
          <a:xfrm>
            <a:off x="700832" y="2050708"/>
            <a:ext cx="83000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Overview:</a:t>
            </a:r>
            <a:r>
              <a:rPr lang="en-IN" dirty="0"/>
              <a:t> A comprehensive exploratory data analysis (EDA), statistical evaluation, and multi-variable </a:t>
            </a:r>
            <a:r>
              <a:rPr lang="en-IN" dirty="0" err="1"/>
              <a:t>modeling</a:t>
            </a:r>
            <a:r>
              <a:rPr lang="en-IN" dirty="0"/>
              <a:t> of agricultural performance across diverse states, districts, and seasons.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Data Scope:</a:t>
            </a:r>
            <a:r>
              <a:rPr lang="en-IN" dirty="0"/>
              <a:t> Evaluates 4,000 agricultural records examining crop yields, total costs, revenues, net profitability, fertilizer application, and environmental factors.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Analytical Techniques Applied:</a:t>
            </a:r>
            <a:endParaRPr lang="en-IN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Univariate distribution analysis (yield histograms, crop and season frequency distributions).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Bivariate relationships (fertilizer vs. yield scatter plots, profit by irrigation methods).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Multivariate performance dashboards and risk-ROI quadrant mapping.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Correlation matrix heatmaps mapping interdependencies between climate, inputs, and financial returns.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lvl="0">
              <a:buClrTx/>
              <a:buSzPct val="90000"/>
              <a:buFont typeface="Arial" panose="020B0604020202020204" pitchFamily="34" charset="0"/>
              <a:buChar char="•"/>
            </a:pPr>
            <a:r>
              <a:rPr lang="en-IN" sz="1800" b="1" dirty="0"/>
              <a:t>Farmers &amp; Agricultural Producers:</a:t>
            </a:r>
            <a:r>
              <a:rPr lang="en-IN" sz="1800" dirty="0"/>
              <a:t> To optimize crop selection, input expenditures (fertilizers/</a:t>
            </a:r>
            <a:r>
              <a:rPr lang="en-IN" sz="1800" dirty="0" err="1"/>
              <a:t>labor</a:t>
            </a:r>
            <a:r>
              <a:rPr lang="en-IN" sz="1800" dirty="0"/>
              <a:t>), and irrigation strategies for maximum profitability.</a:t>
            </a:r>
          </a:p>
          <a:p>
            <a:pPr lvl="0">
              <a:buClrTx/>
              <a:buSzPct val="90000"/>
              <a:buFont typeface="Arial" panose="020B0604020202020204" pitchFamily="34" charset="0"/>
              <a:buChar char="•"/>
            </a:pPr>
            <a:r>
              <a:rPr lang="en-IN" sz="1800" b="1" dirty="0"/>
              <a:t>Agricultural Economists &amp; Analysts:</a:t>
            </a:r>
            <a:r>
              <a:rPr lang="en-IN" sz="1800" dirty="0"/>
              <a:t> To evaluate market pricing trends, cost-structure burdens, and regional agricultural productivity.</a:t>
            </a:r>
          </a:p>
          <a:p>
            <a:pPr lvl="0">
              <a:buClrTx/>
              <a:buSzPct val="90000"/>
              <a:buFont typeface="Arial" panose="020B0604020202020204" pitchFamily="34" charset="0"/>
              <a:buChar char="•"/>
            </a:pPr>
            <a:r>
              <a:rPr lang="en-IN" sz="1800" b="1" dirty="0"/>
              <a:t>Policymakers &amp; Agricultural Planners:</a:t>
            </a:r>
            <a:r>
              <a:rPr lang="en-IN" sz="1800" dirty="0"/>
              <a:t> To design resource-allocation frameworks, subsidy programs, and sustainable food security policies across different </a:t>
            </a:r>
            <a:r>
              <a:rPr lang="en-IN" sz="1800" dirty="0" err="1"/>
              <a:t>agro</a:t>
            </a:r>
            <a:r>
              <a:rPr lang="en-IN" sz="1800" dirty="0"/>
              <a:t>-climatic zones.</a:t>
            </a:r>
          </a:p>
          <a:p>
            <a:pPr marL="0" indent="0">
              <a:lnSpc>
                <a:spcPct val="150000"/>
              </a:lnSpc>
              <a:buClrTx/>
              <a:buNone/>
            </a:pP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0">
              <a:buClrTx/>
              <a:buFont typeface="Arial" panose="020B0604020202020204" pitchFamily="34" charset="0"/>
              <a:buChar char="•"/>
            </a:pPr>
            <a:r>
              <a:rPr lang="en-IN" sz="1800" b="1" dirty="0"/>
              <a:t>Programming Language:</a:t>
            </a:r>
            <a:r>
              <a:rPr lang="en-IN" sz="1800" dirty="0"/>
              <a:t> Python</a:t>
            </a:r>
          </a:p>
          <a:p>
            <a:pPr lvl="0">
              <a:buClrTx/>
              <a:buFont typeface="Arial" panose="020B0604020202020204" pitchFamily="34" charset="0"/>
              <a:buChar char="•"/>
            </a:pPr>
            <a:r>
              <a:rPr lang="en-IN" sz="1800" b="1" dirty="0"/>
              <a:t>Data Manipulation &amp; Analysis:</a:t>
            </a:r>
            <a:r>
              <a:rPr lang="en-IN" sz="1800" dirty="0"/>
              <a:t> Pandas, NumPy</a:t>
            </a:r>
          </a:p>
          <a:p>
            <a:pPr lvl="0">
              <a:buClrTx/>
              <a:buFont typeface="Arial" panose="020B0604020202020204" pitchFamily="34" charset="0"/>
              <a:buChar char="•"/>
            </a:pPr>
            <a:r>
              <a:rPr lang="en-IN" sz="1800" b="1" dirty="0"/>
              <a:t>Data Visualization:</a:t>
            </a:r>
            <a:r>
              <a:rPr lang="en-IN" sz="1800" dirty="0"/>
              <a:t> Matplotlib, Seaborn</a:t>
            </a:r>
          </a:p>
          <a:p>
            <a:pPr lvl="0">
              <a:buClrTx/>
              <a:buFont typeface="Arial" panose="020B0604020202020204" pitchFamily="34" charset="0"/>
              <a:buChar char="•"/>
            </a:pPr>
            <a:r>
              <a:rPr lang="en-IN" sz="1800" b="1" dirty="0"/>
              <a:t>Development Environment:</a:t>
            </a:r>
            <a:r>
              <a:rPr lang="en-IN" sz="1800" dirty="0"/>
              <a:t> Google </a:t>
            </a:r>
            <a:r>
              <a:rPr lang="en-IN" sz="1800" dirty="0" err="1"/>
              <a:t>Colab</a:t>
            </a:r>
            <a:endParaRPr lang="en-IN" sz="1800" dirty="0"/>
          </a:p>
          <a:p>
            <a:pPr lvl="0">
              <a:buClrTx/>
              <a:buFont typeface="Arial" panose="020B0604020202020204" pitchFamily="34" charset="0"/>
              <a:buChar char="•"/>
            </a:pPr>
            <a:r>
              <a:rPr lang="en-IN" sz="1800" b="1" dirty="0"/>
              <a:t>Version Control:</a:t>
            </a:r>
            <a:r>
              <a:rPr lang="en-IN" sz="1800" dirty="0"/>
              <a:t> GitHub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72" y="74366"/>
            <a:ext cx="2981643" cy="666079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RESULTS 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8ADF05-8226-567B-026C-E145AB2AB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860" y="3581534"/>
            <a:ext cx="5035763" cy="30041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5732A4-6FE0-3F6F-B1E8-E78B04AB4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189" y="740445"/>
            <a:ext cx="4762434" cy="28410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3AE437-F059-482E-4195-1FC734365BFB}"/>
              </a:ext>
            </a:extLst>
          </p:cNvPr>
          <p:cNvSpPr txBox="1"/>
          <p:nvPr/>
        </p:nvSpPr>
        <p:spPr>
          <a:xfrm>
            <a:off x="528503" y="823149"/>
            <a:ext cx="53240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1: PROFIT DISTRIBUTION BY IRRIGATION METHOD</a:t>
            </a:r>
          </a:p>
          <a:p>
            <a:r>
              <a:rPr lang="en-IN" dirty="0"/>
              <a:t>The box plot compares net profit distributions across four irrigation methods (</a:t>
            </a:r>
            <a:r>
              <a:rPr lang="en-IN" b="1" dirty="0"/>
              <a:t>Drip</a:t>
            </a:r>
            <a:r>
              <a:rPr lang="en-IN" dirty="0"/>
              <a:t>, </a:t>
            </a:r>
            <a:r>
              <a:rPr lang="en-IN" b="1" dirty="0"/>
              <a:t>Flood</a:t>
            </a:r>
            <a:r>
              <a:rPr lang="en-IN" dirty="0"/>
              <a:t>, </a:t>
            </a:r>
            <a:r>
              <a:rPr lang="en-IN" b="1" dirty="0"/>
              <a:t>Rainfed</a:t>
            </a:r>
            <a:r>
              <a:rPr lang="en-IN" dirty="0"/>
              <a:t>, and </a:t>
            </a:r>
            <a:r>
              <a:rPr lang="en-IN" b="1" dirty="0"/>
              <a:t>Sprinkler</a:t>
            </a:r>
            <a:r>
              <a:rPr lang="en-IN" dirty="0"/>
              <a:t>), demonstrating that </a:t>
            </a:r>
            <a:r>
              <a:rPr lang="en-IN" b="1" dirty="0"/>
              <a:t>Drip</a:t>
            </a:r>
            <a:r>
              <a:rPr lang="en-IN" dirty="0"/>
              <a:t> irrigation achieves a higher median profitability and a positive baseline shift compared to traditional or rainfed approaches.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E09C9-29F1-EC3B-7178-4550F7C5F712}"/>
              </a:ext>
            </a:extLst>
          </p:cNvPr>
          <p:cNvSpPr txBox="1"/>
          <p:nvPr/>
        </p:nvSpPr>
        <p:spPr>
          <a:xfrm>
            <a:off x="528504" y="3862873"/>
            <a:ext cx="51873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2: FERTILIZER USAGE VS CROP YIELD</a:t>
            </a:r>
          </a:p>
          <a:p>
            <a:r>
              <a:rPr lang="en-IN" dirty="0"/>
              <a:t>It reveals that while moderate-to-high fertilizer application (between 100 to 300 kg/ha) supports higher yield clusters, excessive application does not guarantee proportional yield increases, reflecting diminishing marginal returns across all seasons.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4727D0-E2A9-F8D4-5929-DFB482291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497" y="846753"/>
            <a:ext cx="7141809" cy="51644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CE0D32-197F-49E8-B9D9-BD26033D5039}"/>
              </a:ext>
            </a:extLst>
          </p:cNvPr>
          <p:cNvSpPr txBox="1"/>
          <p:nvPr/>
        </p:nvSpPr>
        <p:spPr>
          <a:xfrm>
            <a:off x="151141" y="1608410"/>
            <a:ext cx="46634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3: AGRICULTURAL PERFORMANCE DASHBOARD</a:t>
            </a:r>
          </a:p>
          <a:p>
            <a:r>
              <a:rPr lang="en-IN" dirty="0"/>
              <a:t>It demonstrates how commercial crops like Sugarcane dominate aggregate production volume while illustrating that advanced irrigation methodologies and environmental factors strongly dictate farm-level profitability and crop yield outcomes. 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C67478-3900-6EB7-242B-14977D569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052296"/>
            <a:ext cx="8766110" cy="32290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44BFA4-A790-00DD-99B9-1025B653A0A3}"/>
              </a:ext>
            </a:extLst>
          </p:cNvPr>
          <p:cNvSpPr txBox="1"/>
          <p:nvPr/>
        </p:nvSpPr>
        <p:spPr>
          <a:xfrm>
            <a:off x="320982" y="4527945"/>
            <a:ext cx="9124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4: AVERAGE NET PROFIT AND YIELD BY SEASON</a:t>
            </a:r>
          </a:p>
          <a:p>
            <a:r>
              <a:rPr lang="en-IN" dirty="0"/>
              <a:t>It illustrates that Kharif yields the highest mean net profit and average yield due to favourable monsoon conditions, while Zaid experiences negative average net profitability despite comparable crop yields.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11929"/>
            <a:ext cx="2981643" cy="525149"/>
          </a:xfrm>
        </p:spPr>
        <p:txBody>
          <a:bodyPr>
            <a:noAutofit/>
          </a:bodyPr>
          <a:lstStyle/>
          <a:p>
            <a:r>
              <a:rPr lang="en-GB" sz="2800" dirty="0"/>
              <a:t>RESULTS 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7E963F-720D-1AB5-0332-05E8B1CF9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675" y="59924"/>
            <a:ext cx="6130443" cy="36832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E88606-D287-ADAA-20AD-A90EF6CB3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221" y="3876300"/>
            <a:ext cx="7089779" cy="29217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8BE5E-0AE9-31CC-4461-113C2608B1BD}"/>
              </a:ext>
            </a:extLst>
          </p:cNvPr>
          <p:cNvSpPr txBox="1"/>
          <p:nvPr/>
        </p:nvSpPr>
        <p:spPr>
          <a:xfrm>
            <a:off x="58802" y="675206"/>
            <a:ext cx="58528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5: FARM RISK &amp; ROI QUADRANT ANALYSIS</a:t>
            </a:r>
          </a:p>
          <a:p>
            <a:r>
              <a:rPr lang="en-IN" dirty="0"/>
              <a:t>The scatter plot maps Total Cost (INR) against Profit (INR), categorized into quadrants using a break-even zero-profit line and a median cost threshold, with markers color-coded by Return on Investment (ROI %).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It demonstrates that higher total expenditures do not guarantee high returns, as many farms operating above the median cost threshold fall below the break-even line into negative profit zones, while high-ROI operations cluster in lower-to-moderate cost brackets.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8A89D2-E98D-8BAB-5D98-157ED4DF36DE}"/>
                  </a:ext>
                </a:extLst>
              </p:cNvPr>
              <p:cNvSpPr txBox="1"/>
              <p:nvPr/>
            </p:nvSpPr>
            <p:spPr>
              <a:xfrm>
                <a:off x="58802" y="4009292"/>
                <a:ext cx="5043419" cy="2314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FIG 6:YIELD AND PROFIT OUTLIER DISTRIBUTION</a:t>
                </a:r>
              </a:p>
              <a:p>
                <a:r>
                  <a:rPr lang="en-IN" dirty="0"/>
                  <a:t>The yield distribution displays a dense cluster of high-yield outliers extending past 100 Tonnes/Ha, while the profit distribution reveals both upper-tail commercial successes exceeding </a:t>
                </a:r>
                <a14:m>
                  <m:oMath xmlns:m="http://schemas.openxmlformats.org/officeDocument/2006/math">
                    <m:r>
                      <a:rPr lang="en-IN"/>
                      <m:t>4×</m:t>
                    </m:r>
                    <m:sSup>
                      <m:sSupPr>
                        <m:ctrlPr>
                          <a:rPr lang="en-IN"/>
                        </m:ctrlPr>
                      </m:sSupPr>
                      <m:e>
                        <m:r>
                          <a:rPr lang="en-IN"/>
                          <m:t>10</m:t>
                        </m:r>
                      </m:e>
                      <m:sup>
                        <m:r>
                          <a:rPr lang="en-IN"/>
                          <m:t>6</m:t>
                        </m:r>
                      </m:sup>
                    </m:sSup>
                  </m:oMath>
                </a14:m>
                <a:r>
                  <a:rPr lang="en-IN" dirty="0"/>
                  <a:t>INR and lower-tail negative financial losses.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8A89D2-E98D-8BAB-5D98-157ED4DF3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2" y="4009292"/>
                <a:ext cx="5043419" cy="2314544"/>
              </a:xfrm>
              <a:prstGeom prst="rect">
                <a:avLst/>
              </a:prstGeom>
              <a:blipFill>
                <a:blip r:embed="rId5"/>
                <a:stretch>
                  <a:fillRect l="-1088" t="-1847" b="-31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08DC6A-F8ED-016A-7B5B-A442E03B8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02" y="1047362"/>
            <a:ext cx="5780060" cy="51644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D6BED1-B2A7-4816-F4D4-8CD018F86CCB}"/>
                  </a:ext>
                </a:extLst>
              </p:cNvPr>
              <p:cNvSpPr txBox="1"/>
              <p:nvPr/>
            </p:nvSpPr>
            <p:spPr>
              <a:xfrm>
                <a:off x="320982" y="1443841"/>
                <a:ext cx="5369573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dirty="0"/>
                  <a:t>FIG 7:CORRELATION MATRIX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correlation matrix heatmap visualizes linear relationships across environmental, input, and financial metrics, highlighting a strong positive correlation (</a:t>
                </a:r>
                <a14:m>
                  <m:oMath xmlns:m="http://schemas.openxmlformats.org/officeDocument/2006/math">
                    <m:r>
                      <a:rPr lang="en-IN"/>
                      <m:t>0.89</m:t>
                    </m:r>
                  </m:oMath>
                </a14:m>
                <a:r>
                  <a:rPr lang="en-IN" dirty="0"/>
                  <a:t>) between </a:t>
                </a:r>
                <a:r>
                  <a:rPr lang="en-IN" b="1" dirty="0"/>
                  <a:t>Revenue</a:t>
                </a:r>
                <a:r>
                  <a:rPr lang="en-IN" dirty="0"/>
                  <a:t> and </a:t>
                </a:r>
                <a:r>
                  <a:rPr lang="en-IN" b="1" dirty="0"/>
                  <a:t>Profit</a:t>
                </a:r>
                <a:r>
                  <a:rPr lang="en-IN" dirty="0"/>
                  <a:t>, alongside moderate links between </a:t>
                </a:r>
                <a:r>
                  <a:rPr lang="en-IN" b="1" dirty="0"/>
                  <a:t>Revenue</a:t>
                </a:r>
                <a:r>
                  <a:rPr lang="en-IN" dirty="0"/>
                  <a:t> and </a:t>
                </a:r>
                <a:r>
                  <a:rPr lang="en-IN" b="1" dirty="0"/>
                  <a:t>Total Cost</a:t>
                </a:r>
                <a:r>
                  <a:rPr lang="en-IN" dirty="0"/>
                  <a:t> (</a:t>
                </a:r>
                <a14:m>
                  <m:oMath xmlns:m="http://schemas.openxmlformats.org/officeDocument/2006/math">
                    <m:r>
                      <a:rPr lang="en-IN"/>
                      <m:t>0.52</m:t>
                    </m:r>
                  </m:oMath>
                </a14:m>
                <a:r>
                  <a:rPr lang="en-IN" dirty="0"/>
                  <a:t>) and </a:t>
                </a:r>
                <a:r>
                  <a:rPr lang="en-IN" b="1" dirty="0"/>
                  <a:t>Profit</a:t>
                </a:r>
                <a:r>
                  <a:rPr lang="en-IN" dirty="0"/>
                  <a:t> and </a:t>
                </a:r>
                <a:r>
                  <a:rPr lang="en-IN" b="1" dirty="0"/>
                  <a:t>Yield</a:t>
                </a:r>
                <a:r>
                  <a:rPr lang="en-IN" dirty="0"/>
                  <a:t> (</a:t>
                </a:r>
                <a14:m>
                  <m:oMath xmlns:m="http://schemas.openxmlformats.org/officeDocument/2006/math">
                    <m:r>
                      <a:rPr lang="en-IN"/>
                      <m:t>0.49</m:t>
                    </m:r>
                  </m:oMath>
                </a14:m>
                <a:r>
                  <a:rPr lang="en-IN" dirty="0"/>
                  <a:t>).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Environmental indicators like </a:t>
                </a:r>
                <a:r>
                  <a:rPr lang="en-IN" b="1" dirty="0"/>
                  <a:t>Rainfall</a:t>
                </a:r>
                <a:r>
                  <a:rPr lang="en-IN" dirty="0"/>
                  <a:t> and </a:t>
                </a:r>
                <a:r>
                  <a:rPr lang="en-IN" b="1" dirty="0"/>
                  <a:t>Humidity</a:t>
                </a:r>
                <a:r>
                  <a:rPr lang="en-IN" dirty="0"/>
                  <a:t> display moderate interdependence (</a:t>
                </a:r>
                <a14:m>
                  <m:oMath xmlns:m="http://schemas.openxmlformats.org/officeDocument/2006/math">
                    <m:r>
                      <a:rPr lang="en-IN"/>
                      <m:t>0.52</m:t>
                    </m:r>
                  </m:oMath>
                </a14:m>
                <a:r>
                  <a:rPr lang="en-IN" dirty="0"/>
                  <a:t>), whereas operational variables such as </a:t>
                </a:r>
                <a:r>
                  <a:rPr lang="en-IN" b="1" dirty="0"/>
                  <a:t>Soil pH</a:t>
                </a:r>
                <a:r>
                  <a:rPr lang="en-IN" dirty="0"/>
                  <a:t> and </a:t>
                </a:r>
                <a:r>
                  <a:rPr lang="en-IN" b="1" dirty="0"/>
                  <a:t>Fertilizer usage</a:t>
                </a:r>
                <a:r>
                  <a:rPr lang="en-IN" dirty="0"/>
                  <a:t> exhibit near-zero linear correlation with overall financial profitability.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D6BED1-B2A7-4816-F4D4-8CD018F86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82" y="1443841"/>
                <a:ext cx="5369573" cy="4247317"/>
              </a:xfrm>
              <a:prstGeom prst="rect">
                <a:avLst/>
              </a:prstGeom>
              <a:blipFill>
                <a:blip r:embed="rId4"/>
                <a:stretch>
                  <a:fillRect l="-1023" t="-10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594" y="653172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778594" y="2012489"/>
            <a:ext cx="7646949" cy="3931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l">
              <a:buClrTx/>
              <a:buFont typeface="Arial" panose="020B0604020202020204" pitchFamily="34" charset="0"/>
              <a:buChar char="•"/>
            </a:pPr>
            <a:r>
              <a:rPr lang="en-IN" sz="1800" b="1" dirty="0"/>
              <a:t>Real-Time IoT Integration:</a:t>
            </a:r>
            <a:r>
              <a:rPr lang="en-IN" sz="1800" dirty="0"/>
              <a:t> Incorporating live soil sensor and weather API feeds for real-time crop health monitoring and automated irrigation scheduling.</a:t>
            </a:r>
          </a:p>
          <a:p>
            <a:pPr marL="285750" lvl="0" indent="-285750" algn="l">
              <a:buClrTx/>
              <a:buFont typeface="Arial" panose="020B0604020202020204" pitchFamily="34" charset="0"/>
              <a:buChar char="•"/>
            </a:pPr>
            <a:r>
              <a:rPr lang="en-IN" sz="1800" b="1" dirty="0"/>
              <a:t>Advanced Machine Learning Predictive </a:t>
            </a:r>
            <a:r>
              <a:rPr lang="en-IN" sz="1800" b="1" dirty="0" err="1"/>
              <a:t>Modeling</a:t>
            </a:r>
            <a:r>
              <a:rPr lang="en-IN" sz="1800" b="1" dirty="0"/>
              <a:t>:</a:t>
            </a:r>
            <a:r>
              <a:rPr lang="en-IN" sz="1800" dirty="0"/>
              <a:t> Expanding the pipeline from descriptive EDA to predictive yield and price forecasting using advanced regression and ensemble models (e.g., </a:t>
            </a:r>
            <a:r>
              <a:rPr lang="en-IN" sz="1800" dirty="0" err="1"/>
              <a:t>XGBoost</a:t>
            </a:r>
            <a:r>
              <a:rPr lang="en-IN" sz="1800" dirty="0"/>
              <a:t>, Random Forest).</a:t>
            </a:r>
          </a:p>
          <a:p>
            <a:pPr marL="285750" lvl="0" indent="-285750" algn="l">
              <a:buClrTx/>
              <a:buFont typeface="Arial" panose="020B0604020202020204" pitchFamily="34" charset="0"/>
              <a:buChar char="•"/>
            </a:pPr>
            <a:r>
              <a:rPr lang="en-IN" sz="1800" b="1" dirty="0"/>
              <a:t>Geographical Expansion:</a:t>
            </a:r>
            <a:r>
              <a:rPr lang="en-IN" sz="1800" dirty="0"/>
              <a:t> Scaling the analytical framework to encompass broader national and international </a:t>
            </a:r>
            <a:r>
              <a:rPr lang="en-IN" sz="1800" dirty="0" err="1"/>
              <a:t>agro</a:t>
            </a:r>
            <a:r>
              <a:rPr lang="en-IN" sz="1800" dirty="0"/>
              <a:t>-ecological zones.</a:t>
            </a:r>
          </a:p>
          <a:p>
            <a:pPr algn="l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EC5060-08FE-437C-83FA-D4330F571ABF}"/>
              </a:ext>
            </a:extLst>
          </p:cNvPr>
          <p:cNvSpPr txBox="1"/>
          <p:nvPr/>
        </p:nvSpPr>
        <p:spPr>
          <a:xfrm>
            <a:off x="354537" y="2912823"/>
            <a:ext cx="892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https://github.com/Priyanka-Balakumar/Seasonal-Agriculture-Performance-Analysis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9CE65-8E95-4A9E-6DB9-14ADB2718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1" y="1375207"/>
            <a:ext cx="6859905" cy="481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5" name="Picture 4" descr="Thank you PSD, High Quality Free PSD Templates for Download | Magnific  (formerly Freepik)">
            <a:extLst>
              <a:ext uri="{FF2B5EF4-FFF2-40B4-BE49-F238E27FC236}">
                <a16:creationId xmlns:a16="http://schemas.microsoft.com/office/drawing/2014/main" id="{636A7FCF-B203-78EE-A773-EE22AF69F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19" y="973784"/>
            <a:ext cx="704850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1440</TotalTime>
  <Words>817</Words>
  <Application>Microsoft Office PowerPoint</Application>
  <PresentationFormat>Widescreen</PresentationFormat>
  <Paragraphs>59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Balakumar S</cp:lastModifiedBy>
  <cp:revision>105</cp:revision>
  <dcterms:created xsi:type="dcterms:W3CDTF">2021-07-11T13:13:15Z</dcterms:created>
  <dcterms:modified xsi:type="dcterms:W3CDTF">2026-09-07T17:33:53Z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